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1323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InnerLoop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21792" y="153619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E8F5"/>
                </a:solidFill>
              </a:rPr>
              <a:t>Privacy‑First Voice‑Assisted Personal Pattern Intelligence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08483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6FBFF"/>
                </a:solidFill>
              </a:rPr>
              <a:t>Discover the hidden loops between money, time, and mood — without sending personal life data to a cloud AI.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2331720" cy="310896"/>
          </a:xfrm>
          <a:prstGeom prst="rect">
            <a:avLst/>
          </a:prstGeom>
          <a:solidFill>
            <a:srgbClr val="0E2537"/>
          </a:solidFill>
          <a:ln>
            <a:solidFill>
              <a:srgbClr val="2CE8F5">
                <a:alpha val="7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E8F5"/>
                </a:solidFill>
              </a:rPr>
              <a:t>Bangla / Banglish voice input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154680" y="3429000"/>
            <a:ext cx="1691640" cy="310896"/>
          </a:xfrm>
          <a:prstGeom prst="rect">
            <a:avLst/>
          </a:prstGeom>
          <a:solidFill>
            <a:srgbClr val="0E2537"/>
          </a:solidFill>
          <a:ln>
            <a:solidFill>
              <a:srgbClr val="9D5CFF">
                <a:alpha val="7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D5CFF"/>
                </a:solidFill>
              </a:rPr>
              <a:t>Local browser AI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3858768"/>
            <a:ext cx="2148840" cy="310896"/>
          </a:xfrm>
          <a:prstGeom prst="rect">
            <a:avLst/>
          </a:prstGeom>
          <a:solidFill>
            <a:srgbClr val="0E2537"/>
          </a:solidFill>
          <a:ln>
            <a:solidFill>
              <a:srgbClr val="F5B85A">
                <a:alpha val="7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B85A"/>
                </a:solidFill>
              </a:rPr>
              <a:t>Personal pattern discovery</a:t>
            </a:r>
            <a:endParaRPr lang="en-US" sz="1050" dirty="0"/>
          </a:p>
        </p:txBody>
      </p:sp>
      <p:pic>
        <p:nvPicPr>
          <p:cNvPr id="8" name="Image 0" descr="/mnt/data/a_sleek_futuristic_infographic_sci_fi_ui_scene_batch_4.png">    </p:cNvPr>
          <p:cNvPicPr>
            <a:picLocks noChangeAspect="1"/>
          </p:cNvPicPr>
          <p:nvPr/>
        </p:nvPicPr>
        <p:blipFill>
          <a:blip r:embed="rId1"/>
          <a:srcRect l="24374" r="24374" t="0" b="0"/>
          <a:stretch/>
        </p:blipFill>
        <p:spPr>
          <a:xfrm>
            <a:off x="5897880" y="0"/>
            <a:ext cx="6245352" cy="6858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809D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daily-life data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9"/>
                </a:solidFill>
              </a:rPr>
              <a:t>Three signals move together, but users see them separately.</a:t>
            </a:r>
            <a:endParaRPr lang="en-US" sz="1000" dirty="0"/>
          </a:p>
        </p:txBody>
      </p:sp>
      <p:pic>
        <p:nvPicPr>
          <p:cNvPr id="4" name="Image 0" descr="/mnt/data/a_detailed_modern_digital_illustration_concept_batch_2.png">    </p:cNvPr>
          <p:cNvPicPr>
            <a:picLocks noChangeAspect="1"/>
          </p:cNvPicPr>
          <p:nvPr/>
        </p:nvPicPr>
        <p:blipFill>
          <a:blip r:embed="rId1"/>
          <a:srcRect l="21344" r="21344" t="0" b="0"/>
          <a:stretch/>
        </p:blipFill>
        <p:spPr>
          <a:xfrm>
            <a:off x="594360" y="1325880"/>
            <a:ext cx="5074920" cy="4983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80760" y="13898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BFF"/>
                </a:solidFill>
              </a:rPr>
              <a:t>People remember the outcome, not the pattern.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108192" y="2240280"/>
            <a:ext cx="4800600" cy="685800"/>
          </a:xfrm>
          <a:prstGeom prst="rect">
            <a:avLst/>
          </a:prstGeom>
          <a:solidFill>
            <a:srgbClr val="10233E"/>
          </a:solidFill>
          <a:ln>
            <a:solidFill>
              <a:srgbClr val="19C7B6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6FBFF"/>
                </a:solidFill>
              </a:rPr>
              <a:t>৳ 500 disappears in small purchases before the user knows where it went.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08192" y="3063240"/>
            <a:ext cx="4800600" cy="685800"/>
          </a:xfrm>
          <a:prstGeom prst="rect">
            <a:avLst/>
          </a:prstGeom>
          <a:solidFill>
            <a:srgbClr val="10233E"/>
          </a:solidFill>
          <a:ln>
            <a:solidFill>
              <a:srgbClr val="2CE8F5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6FBFF"/>
                </a:solidFill>
              </a:rPr>
              <a:t>Time slips into scrolling, travel, waiting and unplanned breaks.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108192" y="3886200"/>
            <a:ext cx="4800600" cy="685800"/>
          </a:xfrm>
          <a:prstGeom prst="rect">
            <a:avLst/>
          </a:prstGeom>
          <a:solidFill>
            <a:srgbClr val="10233E"/>
          </a:solidFill>
          <a:ln>
            <a:solidFill>
              <a:srgbClr val="9D5CFF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6FBFF"/>
                </a:solidFill>
              </a:rPr>
              <a:t>Mood changes are recorded late — after triggers become unclear.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26480" y="5074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85A"/>
                </a:solidFill>
              </a:rPr>
              <a:t>Existing tools answer “what happened?” InnerLoop asks “what keeps repeating?”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809D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gap: tools are powerful, but siloed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9"/>
                </a:solidFill>
              </a:rPr>
              <a:t>Finance, time, and mood products rarely explain cross-domain relationships.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2560320" cy="1188720"/>
          </a:xfrm>
          <a:prstGeom prst="rect">
            <a:avLst/>
          </a:prstGeom>
          <a:solidFill>
            <a:srgbClr val="10243A"/>
          </a:solidFill>
          <a:ln>
            <a:solidFill>
              <a:srgbClr val="19C7B6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FBFF"/>
                </a:solidFill>
              </a:rPr>
              <a:t>Finance trackers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6FBFF"/>
                </a:solidFill>
              </a:rPr>
              <a:t>show spend categories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520440" y="1325880"/>
            <a:ext cx="2560320" cy="1188720"/>
          </a:xfrm>
          <a:prstGeom prst="rect">
            <a:avLst/>
          </a:prstGeom>
          <a:solidFill>
            <a:srgbClr val="10243A"/>
          </a:solidFill>
          <a:ln>
            <a:solidFill>
              <a:srgbClr val="2CE8F5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FBFF"/>
                </a:solidFill>
              </a:rPr>
              <a:t>Time trackers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6FBFF"/>
                </a:solidFill>
              </a:rPr>
              <a:t>show apps &amp; focus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55080" y="1325880"/>
            <a:ext cx="2560320" cy="1188720"/>
          </a:xfrm>
          <a:prstGeom prst="rect">
            <a:avLst/>
          </a:prstGeom>
          <a:solidFill>
            <a:srgbClr val="10243A"/>
          </a:solidFill>
          <a:ln>
            <a:solidFill>
              <a:srgbClr val="9D5CFF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FBFF"/>
                </a:solidFill>
              </a:rPr>
              <a:t>Mood journals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6FBFF"/>
                </a:solidFill>
              </a:rPr>
              <a:t>show emotions &amp; habits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89720" y="1325880"/>
            <a:ext cx="2286000" cy="1188720"/>
          </a:xfrm>
          <a:prstGeom prst="rect">
            <a:avLst/>
          </a:prstGeom>
          <a:solidFill>
            <a:srgbClr val="10243A"/>
          </a:solidFill>
          <a:ln>
            <a:solidFill>
              <a:srgbClr val="F5B85A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FBFF"/>
                </a:solidFill>
              </a:rPr>
              <a:t>Personal analytics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6FBFF"/>
                </a:solidFill>
              </a:rPr>
              <a:t>needs integrations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66160" y="310896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FBFF"/>
                </a:solidFill>
              </a:rPr>
              <a:t>The missing layer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965960" y="3703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CE8F5"/>
                </a:solidFill>
              </a:rPr>
              <a:t>A privacy‑first engine that connects daily spending, activity, and mood into personal loops.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57600" y="5074920"/>
            <a:ext cx="4937760" cy="0"/>
          </a:xfrm>
          <a:prstGeom prst="line">
            <a:avLst/>
          </a:prstGeom>
          <a:noFill/>
          <a:ln w="12700">
            <a:solidFill>
              <a:srgbClr val="2CE8F5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651760" y="4809744"/>
            <a:ext cx="1371600" cy="411480"/>
          </a:xfrm>
          <a:prstGeom prst="rect">
            <a:avLst/>
          </a:prstGeom>
          <a:solidFill>
            <a:srgbClr val="112A43"/>
          </a:solidFill>
          <a:ln>
            <a:solidFill>
              <a:srgbClr val="2CE8F5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BFF"/>
                </a:solidFill>
              </a:rPr>
              <a:t>Capture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4809744"/>
            <a:ext cx="1371600" cy="411480"/>
          </a:xfrm>
          <a:prstGeom prst="rect">
            <a:avLst/>
          </a:prstGeom>
          <a:solidFill>
            <a:srgbClr val="112A43"/>
          </a:solidFill>
          <a:ln>
            <a:solidFill>
              <a:srgbClr val="9D5C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BFF"/>
                </a:solidFill>
              </a:rPr>
              <a:t>Connect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06640" y="4809744"/>
            <a:ext cx="1371600" cy="411480"/>
          </a:xfrm>
          <a:prstGeom prst="rect">
            <a:avLst/>
          </a:prstGeom>
          <a:solidFill>
            <a:srgbClr val="112A43"/>
          </a:solidFill>
          <a:ln>
            <a:solidFill>
              <a:srgbClr val="F5B85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BFF"/>
                </a:solidFill>
              </a:rPr>
              <a:t>Change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38251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D8197"/>
                </a:solidFill>
              </a:rPr>
              <a:t>Sources: Daylio official features, RescueTime official features, Monva official site, Exist official site.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809D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solution: voice-assisted pattern intelligence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9"/>
                </a:solidFill>
              </a:rPr>
              <a:t>Designed for low-friction capture, local processing, and explainable insight.</a:t>
            </a:r>
            <a:endParaRPr lang="en-US" sz="1000" dirty="0"/>
          </a:p>
        </p:txBody>
      </p:sp>
      <p:pic>
        <p:nvPicPr>
          <p:cNvPr id="4" name="Image 0" descr="/mnt/data/a_futuristic_glossy_ui_concept_illustration_on_a_batch_1.png">    </p:cNvPr>
          <p:cNvPicPr>
            <a:picLocks noChangeAspect="1"/>
          </p:cNvPicPr>
          <p:nvPr/>
        </p:nvPicPr>
        <p:blipFill>
          <a:blip r:embed="rId1"/>
          <a:srcRect l="21292" r="21292" t="0" b="0"/>
          <a:stretch/>
        </p:blipFill>
        <p:spPr>
          <a:xfrm>
            <a:off x="6812280" y="1051560"/>
            <a:ext cx="4617720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234440"/>
            <a:ext cx="411480" cy="411480"/>
          </a:xfrm>
          <a:prstGeom prst="rect">
            <a:avLst/>
          </a:prstGeom>
          <a:solidFill>
            <a:srgbClr val="2CE8F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234440" y="1207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BFF"/>
                </a:solidFill>
              </a:rPr>
              <a:t>Speak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34440" y="16184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7C9"/>
                </a:solidFill>
              </a:rPr>
              <a:t>“Rickshaw 120, studied 2 hours, mood low.”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2350008"/>
            <a:ext cx="411480" cy="411480"/>
          </a:xfrm>
          <a:prstGeom prst="rect">
            <a:avLst/>
          </a:prstGeom>
          <a:solidFill>
            <a:srgbClr val="9D5C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34440" y="23225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BFF"/>
                </a:solidFill>
              </a:rPr>
              <a:t>Confirm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34440" y="27340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7C9"/>
                </a:solidFill>
              </a:rPr>
              <a:t>User edits before saving — no silent AI decisions.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85800" y="3465576"/>
            <a:ext cx="411480" cy="411480"/>
          </a:xfrm>
          <a:prstGeom prst="rect">
            <a:avLst/>
          </a:prstGeom>
          <a:solidFill>
            <a:srgbClr val="2CE8F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34440" y="34381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BFF"/>
                </a:solidFill>
              </a:rPr>
              <a:t>Learn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384962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7C9"/>
                </a:solidFill>
              </a:rPr>
              <a:t>Baseline and anomaly engine uses personal history.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85800" y="4581144"/>
            <a:ext cx="411480" cy="411480"/>
          </a:xfrm>
          <a:prstGeom prst="rect">
            <a:avLst/>
          </a:prstGeom>
          <a:solidFill>
            <a:srgbClr val="9D5C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45537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BFF"/>
                </a:solidFill>
              </a:rPr>
              <a:t>Explain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34440" y="496519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7C9"/>
                </a:solidFill>
              </a:rPr>
              <a:t>Shows observed loops with count and confidence.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809D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experience: from diary to decision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9"/>
                </a:solidFill>
              </a:rPr>
              <a:t>Five features make it more than a tracker.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3246120" cy="1261872"/>
          </a:xfrm>
          <a:prstGeom prst="rect">
            <a:avLst/>
          </a:prstGeom>
          <a:solidFill>
            <a:srgbClr val="0F2A3B"/>
          </a:solidFill>
          <a:ln>
            <a:solidFill>
              <a:srgbClr val="2CE8F5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</a:rPr>
              <a:t>1. Guided voice entry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</a:rPr>
              <a:t>Expense / Time / Mood modes reduce recognition errors.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434840" y="1325880"/>
            <a:ext cx="3246120" cy="1261872"/>
          </a:xfrm>
          <a:prstGeom prst="rect">
            <a:avLst/>
          </a:prstGeom>
          <a:solidFill>
            <a:srgbClr val="12203E"/>
          </a:solidFill>
          <a:ln>
            <a:solidFill>
              <a:srgbClr val="9D5CFF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</a:rPr>
              <a:t>2. Structured extraction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</a:rPr>
              <a:t>Amount, category, duration, mood and trigger become editable records.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83880" y="1325880"/>
            <a:ext cx="3246120" cy="1261872"/>
          </a:xfrm>
          <a:prstGeom prst="rect">
            <a:avLst/>
          </a:prstGeom>
          <a:solidFill>
            <a:srgbClr val="0F2A3B"/>
          </a:solidFill>
          <a:ln>
            <a:solidFill>
              <a:srgbClr val="F5B85A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</a:rPr>
              <a:t>3. Personal baseline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</a:rPr>
              <a:t>Compares the user with their own normal, not generic advice.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14600" y="3886200"/>
            <a:ext cx="3246120" cy="1261872"/>
          </a:xfrm>
          <a:prstGeom prst="rect">
            <a:avLst/>
          </a:prstGeom>
          <a:solidFill>
            <a:srgbClr val="12203E"/>
          </a:solidFill>
          <a:ln>
            <a:solidFill>
              <a:srgbClr val="19C7B6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</a:rPr>
              <a:t>4. Life Loop discovery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</a:rPr>
              <a:t>Finds repeated event sequences across spending, time and mood.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63640" y="3886200"/>
            <a:ext cx="3246120" cy="1261872"/>
          </a:xfrm>
          <a:prstGeom prst="rect">
            <a:avLst/>
          </a:prstGeom>
          <a:solidFill>
            <a:srgbClr val="0F2A3B"/>
          </a:solidFill>
          <a:ln>
            <a:solidFill>
              <a:srgbClr val="FF5EA8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</a:rPr>
              <a:t>5. Experiment Lab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</a:rPr>
              <a:t>Before/after comparisons for small behaviour experiments.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58978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5E6A4"/>
                </a:solidFill>
              </a:rPr>
              <a:t>Winning demo moment: switch Wi‑Fi off, capture a short voice log, and show a loop generated from historical demo data.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809D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architecture: local-first AI in the browser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9"/>
                </a:solidFill>
              </a:rPr>
              <a:t>No paid AI API. Personal records stay on the user’s device.</a:t>
            </a:r>
            <a:endParaRPr lang="en-US" sz="1000" dirty="0"/>
          </a:p>
        </p:txBody>
      </p:sp>
      <p:pic>
        <p:nvPicPr>
          <p:cNvPr id="4" name="Image 0" descr="/mnt/data/a_sleek_high_tech_product_marketing_illustration_batch_3.png">    </p:cNvPr>
          <p:cNvPicPr>
            <a:picLocks noChangeAspect="1"/>
          </p:cNvPicPr>
          <p:nvPr/>
        </p:nvPicPr>
        <p:blipFill>
          <a:blip r:embed="rId1"/>
          <a:srcRect l="21314" r="21314" t="0" b="0"/>
          <a:stretch/>
        </p:blipFill>
        <p:spPr>
          <a:xfrm>
            <a:off x="594360" y="1234440"/>
            <a:ext cx="4800600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72200" y="1234440"/>
            <a:ext cx="5029200" cy="713232"/>
          </a:xfrm>
          <a:prstGeom prst="rect">
            <a:avLst/>
          </a:prstGeom>
          <a:solidFill>
            <a:srgbClr val="10243A"/>
          </a:solidFill>
          <a:ln>
            <a:solidFill>
              <a:srgbClr val="2CE8F5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6FBFF"/>
                </a:solidFill>
              </a:rPr>
              <a:t>Voice recorder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6FBFF"/>
                </a:solidFill>
              </a:rPr>
              <a:t>Browser microphone + short guided commands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172200" y="2148840"/>
            <a:ext cx="5029200" cy="713232"/>
          </a:xfrm>
          <a:prstGeom prst="rect">
            <a:avLst/>
          </a:prstGeom>
          <a:solidFill>
            <a:srgbClr val="10243A"/>
          </a:solidFill>
          <a:ln>
            <a:solidFill>
              <a:srgbClr val="9D5CFF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6FBFF"/>
                </a:solidFill>
              </a:rPr>
              <a:t>Speech model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6FBFF"/>
                </a:solidFill>
              </a:rPr>
              <a:t>Transformers.js Whisper model in Web Worker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172200" y="3063240"/>
            <a:ext cx="5029200" cy="713232"/>
          </a:xfrm>
          <a:prstGeom prst="rect">
            <a:avLst/>
          </a:prstGeom>
          <a:solidFill>
            <a:srgbClr val="10243A"/>
          </a:solidFill>
          <a:ln>
            <a:solidFill>
              <a:srgbClr val="19C7B6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6FBFF"/>
                </a:solidFill>
              </a:rPr>
              <a:t>Classifier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6FBFF"/>
                </a:solidFill>
              </a:rPr>
              <a:t>Custom ONNX category model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172200" y="3977640"/>
            <a:ext cx="5029200" cy="713232"/>
          </a:xfrm>
          <a:prstGeom prst="rect">
            <a:avLst/>
          </a:prstGeom>
          <a:solidFill>
            <a:srgbClr val="10243A"/>
          </a:solidFill>
          <a:ln>
            <a:solidFill>
              <a:srgbClr val="F5B85A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6FBFF"/>
                </a:solidFill>
              </a:rPr>
              <a:t>Local store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6FBFF"/>
                </a:solidFill>
              </a:rPr>
              <a:t>IndexedDB / Dexie for private records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172200" y="4892040"/>
            <a:ext cx="5029200" cy="713232"/>
          </a:xfrm>
          <a:prstGeom prst="rect">
            <a:avLst/>
          </a:prstGeom>
          <a:solidFill>
            <a:srgbClr val="10243A"/>
          </a:solidFill>
          <a:ln>
            <a:solidFill>
              <a:srgbClr val="FF5EA8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6FBFF"/>
                </a:solidFill>
              </a:rPr>
              <a:t>Insight engine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6FBFF"/>
                </a:solidFill>
              </a:rPr>
              <a:t>Baseline, anomaly and loop analysis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94360" y="638251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D8197"/>
                </a:solidFill>
              </a:rPr>
              <a:t>Technical references: Transformers.js supports in-browser models; ONNX Runtime Web supports browser inference; MDN notes Web Speech Recognition may rely on server engines in some browsers.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809D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analysis: prove the AI is feasible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9"/>
                </a:solidFill>
              </a:rPr>
              <a:t>We benchmark the risky parts before claiming accuracy.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2743200" cy="594360"/>
          </a:xfrm>
          <a:prstGeom prst="rect">
            <a:avLst/>
          </a:prstGeom>
          <a:solidFill>
            <a:srgbClr val="2CE8F5"/>
          </a:solidFill>
          <a:ln>
            <a:solidFill>
              <a:srgbClr val="2CE8F5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11F"/>
                </a:solidFill>
              </a:rPr>
              <a:t>Benchmark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29000" y="1325880"/>
            <a:ext cx="3657600" cy="594360"/>
          </a:xfrm>
          <a:prstGeom prst="rect">
            <a:avLst/>
          </a:prstGeom>
          <a:solidFill>
            <a:srgbClr val="2CE8F5"/>
          </a:solidFill>
          <a:ln>
            <a:solidFill>
              <a:srgbClr val="2CE8F5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11F"/>
                </a:solidFill>
              </a:rPr>
              <a:t>Metric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86600" y="1325880"/>
            <a:ext cx="3840480" cy="594360"/>
          </a:xfrm>
          <a:prstGeom prst="rect">
            <a:avLst/>
          </a:prstGeom>
          <a:solidFill>
            <a:srgbClr val="2CE8F5"/>
          </a:solidFill>
          <a:ln>
            <a:solidFill>
              <a:srgbClr val="2CE8F5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11F"/>
                </a:solidFill>
              </a:rPr>
              <a:t>Acceptance target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2743200" cy="594360"/>
          </a:xfrm>
          <a:prstGeom prst="rect">
            <a:avLst/>
          </a:prstGeom>
          <a:solidFill>
            <a:srgbClr val="0D2139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6FBFF"/>
                </a:solidFill>
              </a:rPr>
              <a:t>Speech recognition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3429000" y="1965960"/>
            <a:ext cx="3657600" cy="594360"/>
          </a:xfrm>
          <a:prstGeom prst="rect">
            <a:avLst/>
          </a:prstGeom>
          <a:solidFill>
            <a:srgbClr val="0D2139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6FBFF"/>
                </a:solidFill>
              </a:rPr>
              <a:t>Word error rate + latency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7086600" y="1965960"/>
            <a:ext cx="3840480" cy="594360"/>
          </a:xfrm>
          <a:prstGeom prst="rect">
            <a:avLst/>
          </a:prstGeom>
          <a:solidFill>
            <a:srgbClr val="0D2139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6FBFF"/>
                </a:solidFill>
              </a:rPr>
              <a:t>Short commands under 10–15s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2743200" cy="594360"/>
          </a:xfrm>
          <a:prstGeom prst="rect">
            <a:avLst/>
          </a:prstGeom>
          <a:solidFill>
            <a:srgbClr val="102740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6FBFF"/>
                </a:solidFill>
              </a:rPr>
              <a:t>Category classifier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3429000" y="2606040"/>
            <a:ext cx="3657600" cy="594360"/>
          </a:xfrm>
          <a:prstGeom prst="rect">
            <a:avLst/>
          </a:prstGeom>
          <a:solidFill>
            <a:srgbClr val="102740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6FBFF"/>
                </a:solidFill>
              </a:rPr>
              <a:t>F1-score by class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7086600" y="2606040"/>
            <a:ext cx="3840480" cy="594360"/>
          </a:xfrm>
          <a:prstGeom prst="rect">
            <a:avLst/>
          </a:prstGeom>
          <a:solidFill>
            <a:srgbClr val="102740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6FBFF"/>
                </a:solidFill>
              </a:rPr>
              <a:t>≥80% on voice transcript test set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685800" y="3246120"/>
            <a:ext cx="2743200" cy="594360"/>
          </a:xfrm>
          <a:prstGeom prst="rect">
            <a:avLst/>
          </a:prstGeom>
          <a:solidFill>
            <a:srgbClr val="0D2139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6FBFF"/>
                </a:solidFill>
              </a:rPr>
              <a:t>Browser performance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3429000" y="3246120"/>
            <a:ext cx="3657600" cy="594360"/>
          </a:xfrm>
          <a:prstGeom prst="rect">
            <a:avLst/>
          </a:prstGeom>
          <a:solidFill>
            <a:srgbClr val="0D2139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6FBFF"/>
                </a:solidFill>
              </a:rPr>
              <a:t>Load time + memory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7086600" y="3246120"/>
            <a:ext cx="3840480" cy="594360"/>
          </a:xfrm>
          <a:prstGeom prst="rect">
            <a:avLst/>
          </a:prstGeom>
          <a:solidFill>
            <a:srgbClr val="0D2139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6FBFF"/>
                </a:solidFill>
              </a:rPr>
              <a:t>Works on Chrome/Edge mid-range laptop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685800" y="3886200"/>
            <a:ext cx="2743200" cy="594360"/>
          </a:xfrm>
          <a:prstGeom prst="rect">
            <a:avLst/>
          </a:prstGeom>
          <a:solidFill>
            <a:srgbClr val="102740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6FBFF"/>
                </a:solidFill>
              </a:rPr>
              <a:t>Pattern engine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3429000" y="3886200"/>
            <a:ext cx="3657600" cy="594360"/>
          </a:xfrm>
          <a:prstGeom prst="rect">
            <a:avLst/>
          </a:prstGeom>
          <a:solidFill>
            <a:srgbClr val="102740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6FBFF"/>
                </a:solidFill>
              </a:rPr>
              <a:t>Observed count + confidence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7086600" y="3886200"/>
            <a:ext cx="3840480" cy="594360"/>
          </a:xfrm>
          <a:prstGeom prst="rect">
            <a:avLst/>
          </a:prstGeom>
          <a:solidFill>
            <a:srgbClr val="102740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6FBFF"/>
                </a:solidFill>
              </a:rPr>
              <a:t>No insight below minimum data threshold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7772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85A"/>
                </a:solidFill>
              </a:rPr>
              <a:t>Benchmark dataset design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" y="533095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BFF"/>
                </a:solidFill>
              </a:rPr>
              <a:t>Clean typed text + noisy voice transcripts + Banglish variations. This prevents a demo that only works on perfect examples.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809D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Competitor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9"/>
                </a:solidFill>
              </a:rPr>
              <a:t>InnerLoop wins by combining three categories, not by replacing them.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280160"/>
            <a:ext cx="1783080" cy="512064"/>
          </a:xfrm>
          <a:prstGeom prst="rect">
            <a:avLst/>
          </a:prstGeom>
          <a:solidFill>
            <a:srgbClr val="2CE8F5"/>
          </a:solidFill>
          <a:ln>
            <a:solidFill>
              <a:srgbClr val="2CE8F5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111F"/>
                </a:solidFill>
              </a:rPr>
              <a:t>Product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94560" y="1280160"/>
            <a:ext cx="2423160" cy="512064"/>
          </a:xfrm>
          <a:prstGeom prst="rect">
            <a:avLst/>
          </a:prstGeom>
          <a:solidFill>
            <a:srgbClr val="2CE8F5"/>
          </a:solidFill>
          <a:ln>
            <a:solidFill>
              <a:srgbClr val="2CE8F5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111F"/>
                </a:solidFill>
              </a:rPr>
              <a:t>Primary focus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17720" y="1280160"/>
            <a:ext cx="2194560" cy="512064"/>
          </a:xfrm>
          <a:prstGeom prst="rect">
            <a:avLst/>
          </a:prstGeom>
          <a:solidFill>
            <a:srgbClr val="2CE8F5"/>
          </a:solidFill>
          <a:ln>
            <a:solidFill>
              <a:srgbClr val="2CE8F5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111F"/>
                </a:solidFill>
              </a:rPr>
              <a:t>Voice / capture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12280" y="1280160"/>
            <a:ext cx="2788920" cy="512064"/>
          </a:xfrm>
          <a:prstGeom prst="rect">
            <a:avLst/>
          </a:prstGeom>
          <a:solidFill>
            <a:srgbClr val="2CE8F5"/>
          </a:solidFill>
          <a:ln>
            <a:solidFill>
              <a:srgbClr val="2CE8F5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111F"/>
                </a:solidFill>
              </a:rPr>
              <a:t>Cross-domain patterns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0" y="1280160"/>
            <a:ext cx="1920240" cy="512064"/>
          </a:xfrm>
          <a:prstGeom prst="rect">
            <a:avLst/>
          </a:prstGeom>
          <a:solidFill>
            <a:srgbClr val="2CE8F5"/>
          </a:solidFill>
          <a:ln>
            <a:solidFill>
              <a:srgbClr val="2CE8F5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111F"/>
                </a:solidFill>
              </a:rPr>
              <a:t>Local-first privacy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1783080" cy="530352"/>
          </a:xfrm>
          <a:prstGeom prst="rect">
            <a:avLst/>
          </a:prstGeom>
          <a:solidFill>
            <a:srgbClr val="102840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9F8"/>
                </a:solidFill>
              </a:rPr>
              <a:t>Daylio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2194560" y="1828800"/>
            <a:ext cx="2423160" cy="530352"/>
          </a:xfrm>
          <a:prstGeom prst="rect">
            <a:avLst/>
          </a:prstGeom>
          <a:solidFill>
            <a:srgbClr val="102840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9F8"/>
                </a:solidFill>
              </a:rPr>
              <a:t>Mood journal + stats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617720" y="1828800"/>
            <a:ext cx="2194560" cy="530352"/>
          </a:xfrm>
          <a:prstGeom prst="rect">
            <a:avLst/>
          </a:prstGeom>
          <a:solidFill>
            <a:srgbClr val="102840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9F8"/>
                </a:solidFill>
              </a:rPr>
              <a:t>Manual journal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6812280" y="1828800"/>
            <a:ext cx="2788920" cy="530352"/>
          </a:xfrm>
          <a:prstGeom prst="rect">
            <a:avLst/>
          </a:prstGeom>
          <a:solidFill>
            <a:srgbClr val="102840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9F8"/>
                </a:solidFill>
              </a:rPr>
              <a:t>Mood/activity correlations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9601200" y="1828800"/>
            <a:ext cx="1920240" cy="530352"/>
          </a:xfrm>
          <a:prstGeom prst="rect">
            <a:avLst/>
          </a:prstGeom>
          <a:solidFill>
            <a:srgbClr val="102840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9F8"/>
                </a:solidFill>
              </a:rPr>
              <a:t>App lock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11480" y="2395728"/>
            <a:ext cx="1783080" cy="530352"/>
          </a:xfrm>
          <a:prstGeom prst="rect">
            <a:avLst/>
          </a:prstGeom>
          <a:solidFill>
            <a:srgbClr val="0D2037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9F8"/>
                </a:solidFill>
              </a:rPr>
              <a:t>RescueTime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2194560" y="2395728"/>
            <a:ext cx="2423160" cy="530352"/>
          </a:xfrm>
          <a:prstGeom prst="rect">
            <a:avLst/>
          </a:prstGeom>
          <a:solidFill>
            <a:srgbClr val="0D2037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9F8"/>
                </a:solidFill>
              </a:rPr>
              <a:t>Time tracking + focus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617720" y="2395728"/>
            <a:ext cx="2194560" cy="530352"/>
          </a:xfrm>
          <a:prstGeom prst="rect">
            <a:avLst/>
          </a:prstGeom>
          <a:solidFill>
            <a:srgbClr val="0D2037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9F8"/>
                </a:solidFill>
              </a:rPr>
              <a:t>Automatic app tracking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6812280" y="2395728"/>
            <a:ext cx="2788920" cy="530352"/>
          </a:xfrm>
          <a:prstGeom prst="rect">
            <a:avLst/>
          </a:prstGeom>
          <a:solidFill>
            <a:srgbClr val="0D2037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9F8"/>
                </a:solidFill>
              </a:rPr>
              <a:t>Productivity patterns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9601200" y="2395728"/>
            <a:ext cx="1920240" cy="530352"/>
          </a:xfrm>
          <a:prstGeom prst="rect">
            <a:avLst/>
          </a:prstGeom>
          <a:solidFill>
            <a:srgbClr val="0D2037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9F8"/>
                </a:solidFill>
              </a:rPr>
              <a:t>Cloud/account-based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11480" y="2962656"/>
            <a:ext cx="1783080" cy="530352"/>
          </a:xfrm>
          <a:prstGeom prst="rect">
            <a:avLst/>
          </a:prstGeom>
          <a:solidFill>
            <a:srgbClr val="102840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9F8"/>
                </a:solidFill>
              </a:rPr>
              <a:t>Monva / Nami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2194560" y="2962656"/>
            <a:ext cx="2423160" cy="530352"/>
          </a:xfrm>
          <a:prstGeom prst="rect">
            <a:avLst/>
          </a:prstGeom>
          <a:solidFill>
            <a:srgbClr val="102840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9F8"/>
                </a:solidFill>
              </a:rPr>
              <a:t>Finance tracking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617720" y="2962656"/>
            <a:ext cx="2194560" cy="530352"/>
          </a:xfrm>
          <a:prstGeom prst="rect">
            <a:avLst/>
          </a:prstGeom>
          <a:solidFill>
            <a:srgbClr val="102840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9F8"/>
                </a:solidFill>
              </a:rPr>
              <a:t>Voice / scan options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6812280" y="2962656"/>
            <a:ext cx="2788920" cy="530352"/>
          </a:xfrm>
          <a:prstGeom prst="rect">
            <a:avLst/>
          </a:prstGeom>
          <a:solidFill>
            <a:srgbClr val="102840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9F8"/>
                </a:solidFill>
              </a:rPr>
              <a:t>Spending insights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9601200" y="2962656"/>
            <a:ext cx="1920240" cy="530352"/>
          </a:xfrm>
          <a:prstGeom prst="rect">
            <a:avLst/>
          </a:prstGeom>
          <a:solidFill>
            <a:srgbClr val="102840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9F8"/>
                </a:solidFill>
              </a:rPr>
              <a:t>Offline-first finance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411480" y="3529584"/>
            <a:ext cx="1783080" cy="530352"/>
          </a:xfrm>
          <a:prstGeom prst="rect">
            <a:avLst/>
          </a:prstGeom>
          <a:solidFill>
            <a:srgbClr val="0D2037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9F8"/>
                </a:solidFill>
              </a:rPr>
              <a:t>Exist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2194560" y="3529584"/>
            <a:ext cx="2423160" cy="530352"/>
          </a:xfrm>
          <a:prstGeom prst="rect">
            <a:avLst/>
          </a:prstGeom>
          <a:solidFill>
            <a:srgbClr val="0D2037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9F8"/>
                </a:solidFill>
              </a:rPr>
              <a:t>Personal analytics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4617720" y="3529584"/>
            <a:ext cx="2194560" cy="530352"/>
          </a:xfrm>
          <a:prstGeom prst="rect">
            <a:avLst/>
          </a:prstGeom>
          <a:solidFill>
            <a:srgbClr val="0D2037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9F8"/>
                </a:solidFill>
              </a:rPr>
              <a:t>Integrations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6812280" y="3529584"/>
            <a:ext cx="2788920" cy="530352"/>
          </a:xfrm>
          <a:prstGeom prst="rect">
            <a:avLst/>
          </a:prstGeom>
          <a:solidFill>
            <a:srgbClr val="0D2037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9F8"/>
                </a:solidFill>
              </a:rPr>
              <a:t>Correlation engine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9601200" y="3529584"/>
            <a:ext cx="1920240" cy="530352"/>
          </a:xfrm>
          <a:prstGeom prst="rect">
            <a:avLst/>
          </a:prstGeom>
          <a:solidFill>
            <a:srgbClr val="0D2037"/>
          </a:solidFill>
          <a:ln>
            <a:solidFill>
              <a:srgbClr val="26415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9F8"/>
                </a:solidFill>
              </a:rPr>
              <a:t>Integration-dependent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11480" y="4096512"/>
            <a:ext cx="1783080" cy="530352"/>
          </a:xfrm>
          <a:prstGeom prst="rect">
            <a:avLst/>
          </a:prstGeom>
          <a:solidFill>
            <a:srgbClr val="17365A"/>
          </a:solidFill>
          <a:ln>
            <a:solidFill>
              <a:srgbClr val="F5B85A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6FBFF"/>
                </a:solidFill>
              </a:rPr>
              <a:t>InnerLoop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2194560" y="4096512"/>
            <a:ext cx="2423160" cy="530352"/>
          </a:xfrm>
          <a:prstGeom prst="rect">
            <a:avLst/>
          </a:prstGeom>
          <a:solidFill>
            <a:srgbClr val="17365A"/>
          </a:solidFill>
          <a:ln>
            <a:solidFill>
              <a:srgbClr val="F5B85A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6FBFF"/>
                </a:solidFill>
              </a:rPr>
              <a:t>Money + time + mood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617720" y="4096512"/>
            <a:ext cx="2194560" cy="530352"/>
          </a:xfrm>
          <a:prstGeom prst="rect">
            <a:avLst/>
          </a:prstGeom>
          <a:solidFill>
            <a:srgbClr val="17365A"/>
          </a:solidFill>
          <a:ln>
            <a:solidFill>
              <a:srgbClr val="F5B85A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6FBFF"/>
                </a:solidFill>
              </a:rPr>
              <a:t>Bangla/Banglish guided voice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6812280" y="4096512"/>
            <a:ext cx="2788920" cy="530352"/>
          </a:xfrm>
          <a:prstGeom prst="rect">
            <a:avLst/>
          </a:prstGeom>
          <a:solidFill>
            <a:srgbClr val="17365A"/>
          </a:solidFill>
          <a:ln>
            <a:solidFill>
              <a:srgbClr val="F5B85A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6FBFF"/>
                </a:solidFill>
              </a:rPr>
              <a:t>Life Loop sequences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9601200" y="4096512"/>
            <a:ext cx="1920240" cy="530352"/>
          </a:xfrm>
          <a:prstGeom prst="rect">
            <a:avLst/>
          </a:prstGeom>
          <a:solidFill>
            <a:srgbClr val="17365A"/>
          </a:solidFill>
          <a:ln>
            <a:solidFill>
              <a:srgbClr val="F5B85A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6FBFF"/>
                </a:solidFill>
              </a:rPr>
              <a:t>Browser-local by design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685800" y="5897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5E6A4"/>
                </a:solidFill>
              </a:rPr>
              <a:t>Positioning: InnerLoop is not “another tracker”; it is a privacy‑first relationship engine across personal life signals.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94360" y="638251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D8197"/>
                </a:solidFill>
              </a:rPr>
              <a:t>Sources: Daylio, RescueTime, Monva/Nami, Exist official feature pages.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809D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can stand out at project show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9"/>
                </a:solidFill>
              </a:rPr>
              <a:t>Strong demo + measurable AI + privacy engineering.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E8F5"/>
                </a:solidFill>
              </a:rPr>
              <a:t>Differentiation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63240" y="1170432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6FBFF"/>
                </a:solidFill>
              </a:rPr>
              <a:t>Money, time and mood are analyzed together, then shown as repeated loops.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6712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D5CFF"/>
                </a:solidFill>
              </a:rPr>
              <a:t>Trust design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63240" y="2194560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6FBFF"/>
                </a:solidFill>
              </a:rPr>
              <a:t>AI extraction is never auto-saved; user confirms before storage.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19125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85A"/>
                </a:solidFill>
              </a:rPr>
              <a:t>Security angle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63240" y="3218688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6FBFF"/>
                </a:solidFill>
              </a:rPr>
              <a:t>Local IndexedDB, encrypted export, no ad SDK, no paid cloud AI API.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421538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5E6A4"/>
                </a:solidFill>
              </a:rPr>
              <a:t>Ethical boundary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63240" y="4242816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6FBFF"/>
                </a:solidFill>
              </a:rPr>
              <a:t>No depression diagnosis; insights are associations with observation count.</a:t>
            </a:r>
            <a:endParaRPr lang="en-US" sz="1600" dirty="0"/>
          </a:p>
        </p:txBody>
      </p:sp>
      <p:pic>
        <p:nvPicPr>
          <p:cNvPr id="12" name="Image 0" descr="/mnt/data/a_sleek_futuristic_infographic_sci_fi_ui_scene_batch_4.png">    </p:cNvPr>
          <p:cNvPicPr>
            <a:picLocks noChangeAspect="1"/>
          </p:cNvPicPr>
          <p:nvPr/>
        </p:nvPicPr>
        <p:blipFill>
          <a:blip r:embed="rId1"/>
          <a:srcRect l="0" r="0" t="3321" b="3320"/>
          <a:stretch/>
        </p:blipFill>
        <p:spPr>
          <a:xfrm>
            <a:off x="8503920" y="4800600"/>
            <a:ext cx="2697480" cy="1417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5486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BFF"/>
                </a:solidFill>
              </a:rPr>
              <a:t>Faculty-friendly claim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246120" y="5385816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E8F5"/>
                </a:solidFill>
              </a:rPr>
              <a:t>“We are not building a medical app or a generic tracker. We are engineering a local-first personal pattern discovery system.”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809D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12-week MVP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9"/>
                </a:solidFill>
              </a:rPr>
              <a:t>A controlled build path that de-risks AI early.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5074920" cy="960120"/>
          </a:xfrm>
          <a:prstGeom prst="rect">
            <a:avLst/>
          </a:prstGeom>
          <a:solidFill>
            <a:srgbClr val="10243A"/>
          </a:solidFill>
          <a:ln>
            <a:solidFill>
              <a:srgbClr val="2CE8F5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6FBFF"/>
                </a:solidFill>
              </a:rPr>
              <a:t>Weeks 1–2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6FBFF"/>
                </a:solidFill>
              </a:rPr>
              <a:t>Manual records + local database + clean dashboard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217920" y="1325880"/>
            <a:ext cx="5074920" cy="960120"/>
          </a:xfrm>
          <a:prstGeom prst="rect">
            <a:avLst/>
          </a:prstGeom>
          <a:solidFill>
            <a:srgbClr val="10243A"/>
          </a:solidFill>
          <a:ln>
            <a:solidFill>
              <a:srgbClr val="9D5CFF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6FBFF"/>
                </a:solidFill>
              </a:rPr>
              <a:t>Weeks 3–4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6FBFF"/>
                </a:solidFill>
              </a:rPr>
              <a:t>Voice capture + transcript pipeline benchmark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5074920" cy="960120"/>
          </a:xfrm>
          <a:prstGeom prst="rect">
            <a:avLst/>
          </a:prstGeom>
          <a:solidFill>
            <a:srgbClr val="10243A"/>
          </a:solidFill>
          <a:ln>
            <a:solidFill>
              <a:srgbClr val="F5B85A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6FBFF"/>
                </a:solidFill>
              </a:rPr>
              <a:t>Weeks 5–6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6FBFF"/>
                </a:solidFill>
              </a:rPr>
              <a:t>Bangla/Banglish dataset + custom classifier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17920" y="2651760"/>
            <a:ext cx="5074920" cy="960120"/>
          </a:xfrm>
          <a:prstGeom prst="rect">
            <a:avLst/>
          </a:prstGeom>
          <a:solidFill>
            <a:srgbClr val="10243A"/>
          </a:solidFill>
          <a:ln>
            <a:solidFill>
              <a:srgbClr val="19C7B6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6FBFF"/>
                </a:solidFill>
              </a:rPr>
              <a:t>Weeks 7–8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6FBFF"/>
                </a:solidFill>
              </a:rPr>
              <a:t>Baseline, anomaly and loop engine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3977640"/>
            <a:ext cx="5074920" cy="960120"/>
          </a:xfrm>
          <a:prstGeom prst="rect">
            <a:avLst/>
          </a:prstGeom>
          <a:solidFill>
            <a:srgbClr val="10243A"/>
          </a:solidFill>
          <a:ln>
            <a:solidFill>
              <a:srgbClr val="FF5EA8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6FBFF"/>
                </a:solidFill>
              </a:rPr>
              <a:t>Weeks 9–10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6FBFF"/>
                </a:solidFill>
              </a:rPr>
              <a:t>Experiment Lab + privacy controls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7920" y="3977640"/>
            <a:ext cx="5074920" cy="960120"/>
          </a:xfrm>
          <a:prstGeom prst="rect">
            <a:avLst/>
          </a:prstGeom>
          <a:solidFill>
            <a:srgbClr val="10243A"/>
          </a:solidFill>
          <a:ln>
            <a:solidFill>
              <a:srgbClr val="65E6A4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6FBFF"/>
                </a:solidFill>
              </a:rPr>
              <a:t>Weeks 11–12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6FBFF"/>
                </a:solidFill>
              </a:rPr>
              <a:t>Testing, polish, demo data and project-show story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5B85A"/>
                </a:solidFill>
              </a:rPr>
              <a:t>MVP exit criteria: voice log → confirmed record → personal baseline → loop insight → experiment comparison.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809D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used for competitor and technical framing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9"/>
                </a:solidFill>
              </a:rPr>
              <a:t>Official product and technology documentation.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E8F5"/>
                </a:solidFill>
              </a:rPr>
              <a:t>Daylio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0" y="1325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6FBFF"/>
                </a:solidFill>
              </a:rPr>
              <a:t>daylio.net — mood journal, goals, stats, app lock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5CFF"/>
                </a:solidFill>
              </a:rPr>
              <a:t>RescueTime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1984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6FBFF"/>
                </a:solidFill>
              </a:rPr>
              <a:t>rescuetime.com/features — automatic time tracking, focus, reports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6426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5A"/>
                </a:solidFill>
              </a:rPr>
              <a:t>Monva / Nami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0" y="2642616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6FBFF"/>
                </a:solidFill>
              </a:rPr>
              <a:t>monva.app and nami.lt — finance tracking, voice input, offline-first claims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3009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C7B6"/>
                </a:solidFill>
              </a:rPr>
              <a:t>Transformers.js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330098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6FBFF"/>
                </a:solidFill>
              </a:rPr>
              <a:t>huggingface.co/docs/transformers.js — browser ML / speech tasks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959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A8"/>
                </a:solidFill>
              </a:rPr>
              <a:t>ONNX Runtime Web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0" y="39593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6FBFF"/>
                </a:solidFill>
              </a:rPr>
              <a:t>onnxruntime.ai/docs — browser inference support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4617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5E6A4"/>
                </a:solidFill>
              </a:rPr>
              <a:t>MDN Web Speech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6FBFF"/>
                </a:solidFill>
              </a:rPr>
              <a:t>developer.mozilla.org — browser speech recognition limitations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58064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7C9"/>
                </a:solidFill>
              </a:rPr>
              <a:t>Generated visual assets were created specifically for this deck to represent the product concept.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809D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InnerLoop Pitch Deck</dc:title>
  <dc:subject>InnerLoop Project Proposal</dc:subject>
  <dc:creator>OpenAI</dc:creator>
  <cp:lastModifiedBy>OpenAI</cp:lastModifiedBy>
  <cp:revision>1</cp:revision>
  <dcterms:created xsi:type="dcterms:W3CDTF">2026-08-01T04:28:01Z</dcterms:created>
  <dcterms:modified xsi:type="dcterms:W3CDTF">2026-08-01T04:28:01Z</dcterms:modified>
</cp:coreProperties>
</file>